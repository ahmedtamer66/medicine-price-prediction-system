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Epilogue" panose="020B0604020202020204" charset="0"/>
      <p:regular r:id="rId26"/>
    </p:embeddedFont>
    <p:embeddedFont>
      <p:font typeface="Epilogue Bold" panose="020B0604020202020204" charset="0"/>
      <p:regular r:id="rId27"/>
    </p:embeddedFont>
    <p:embeddedFont>
      <p:font typeface="Fraunces Medium" panose="020B0604020202020204" charset="0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594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63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67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38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92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30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05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67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96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44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87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4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4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5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5.png"/><Relationship Id="rId4" Type="http://schemas.openxmlformats.org/officeDocument/2006/relationships/image" Target="../media/image5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45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sv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svg"/><Relationship Id="rId11" Type="http://schemas.openxmlformats.org/officeDocument/2006/relationships/image" Target="../media/image45.png"/><Relationship Id="rId5" Type="http://schemas.openxmlformats.org/officeDocument/2006/relationships/image" Target="../media/image68.png"/><Relationship Id="rId10" Type="http://schemas.openxmlformats.org/officeDocument/2006/relationships/image" Target="../media/image73.svg"/><Relationship Id="rId4" Type="http://schemas.openxmlformats.org/officeDocument/2006/relationships/image" Target="../media/image67.svg"/><Relationship Id="rId9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336" b="1621"/>
          <a:stretch>
            <a:fillRect/>
          </a:stretch>
        </p:blipFill>
        <p:spPr>
          <a:xfrm>
            <a:off x="5610153" y="0"/>
            <a:ext cx="3533847" cy="5144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5402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Medicine Price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764252" y="1347536"/>
            <a:ext cx="4997156" cy="271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AI-Powered Medicine Price Forecasting and Pharmaceutical Assistant</a:t>
            </a:r>
            <a:endParaRPr lang="en-US" sz="14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Final Graduation Project Presentation - DEPI </a:t>
            </a:r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33EF32-CF69-9181-BBBD-AC659C00F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036946"/>
              </p:ext>
            </p:extLst>
          </p:nvPr>
        </p:nvGraphicFramePr>
        <p:xfrm>
          <a:off x="85510" y="2550499"/>
          <a:ext cx="5449017" cy="23774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816339">
                  <a:extLst>
                    <a:ext uri="{9D8B030D-6E8A-4147-A177-3AD203B41FA5}">
                      <a16:colId xmlns:a16="http://schemas.microsoft.com/office/drawing/2014/main" val="3262726973"/>
                    </a:ext>
                  </a:extLst>
                </a:gridCol>
                <a:gridCol w="1816339">
                  <a:extLst>
                    <a:ext uri="{9D8B030D-6E8A-4147-A177-3AD203B41FA5}">
                      <a16:colId xmlns:a16="http://schemas.microsoft.com/office/drawing/2014/main" val="2546926682"/>
                    </a:ext>
                  </a:extLst>
                </a:gridCol>
                <a:gridCol w="1816339">
                  <a:extLst>
                    <a:ext uri="{9D8B030D-6E8A-4147-A177-3AD203B41FA5}">
                      <a16:colId xmlns:a16="http://schemas.microsoft.com/office/drawing/2014/main" val="1302815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Team Members</a:t>
                      </a:r>
                      <a:endParaRPr lang="en-US" sz="1200" b="1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effectLst/>
                        </a:rPr>
                        <a:t>Role</a:t>
                      </a:r>
                      <a:endParaRPr lang="en-US" sz="1200" b="1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Responsibilities</a:t>
                      </a:r>
                      <a:endParaRPr lang="en-US" sz="1200" b="1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33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Mohamed Ashraf </a:t>
                      </a:r>
                      <a:endParaRPr lang="en-US" sz="1200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Machine Learning</a:t>
                      </a:r>
                      <a:endParaRPr lang="en-US" sz="1200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Data preprocessing, Prophet forecasting</a:t>
                      </a:r>
                      <a:endParaRPr lang="en-US" sz="120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466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Anas Tarek</a:t>
                      </a:r>
                      <a:endParaRPr lang="en-US" sz="1200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AI Engineer</a:t>
                      </a:r>
                      <a:endParaRPr lang="en-US" sz="120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RAG pipeline, Qwen chatbot</a:t>
                      </a:r>
                      <a:endParaRPr lang="en-US" sz="120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295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Haitham Mohamed</a:t>
                      </a:r>
                      <a:endParaRPr lang="en-US" sz="1200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Backend Developer</a:t>
                      </a:r>
                      <a:endParaRPr lang="en-US" sz="1200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FastAPI services, database, API integration</a:t>
                      </a:r>
                      <a:endParaRPr lang="en-US" sz="120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78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Asem Wael</a:t>
                      </a:r>
                      <a:endParaRPr lang="en-US" sz="1200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Frontend Developer</a:t>
                      </a:r>
                      <a:endParaRPr lang="en-US" sz="1200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Streamlit interface</a:t>
                      </a:r>
                      <a:endParaRPr lang="en-US" sz="120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1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Ahmed Tamer</a:t>
                      </a:r>
                      <a:endParaRPr lang="en-US" sz="1200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Documentation &amp; QA</a:t>
                      </a:r>
                      <a:endParaRPr lang="en-US" sz="1200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UML, testing, reports, user manual</a:t>
                      </a:r>
                      <a:endParaRPr lang="en-US" sz="1200" dirty="0">
                        <a:effectLst/>
                        <a:latin typeface="Epilogue" panose="020B0604020202020204" charset="0"/>
                      </a:endParaRPr>
                    </a:p>
                  </a:txBody>
                  <a:tcPr marL="99060" marR="9906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068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7912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559763"/>
            <a:ext cx="7279825" cy="494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 intelligent healthcare platform combining drug data, machine learning, and AI to help patients and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professionals make informed decisions using historical medicine prices and AI-powered recommendations.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662" y="1095050"/>
            <a:ext cx="4048517" cy="4048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06565" y="1738832"/>
            <a:ext cx="1461440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Drug Database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806565" y="2239650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Centralized clinical and price history for modeling.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94382" y="1509567"/>
            <a:ext cx="1461440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94382" y="2239650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Train models on historical trends and features.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806565" y="3511191"/>
            <a:ext cx="1461440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Price Forecasting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806565" y="4219400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Generate short- and long-term price projections.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94382" y="3733404"/>
            <a:ext cx="1461440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94382" y="4177029"/>
            <a:ext cx="1461440" cy="55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Deliver recommendations and insights to users.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96119" y="5382369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system integrates a centralized drug database, ML-based price forecasting, intelligent medicine search, and a conversational AI pharmacist assistant into one unified platform.</a:t>
            </a:r>
            <a:endParaRPr lang="en-US" sz="5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D3C445-DE67-0FB2-3098-D05A98F74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719" y="4860758"/>
            <a:ext cx="1141281" cy="2827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8653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242120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Medicine prices frequently change due to </a:t>
            </a: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inflation, supply shortages, market conditions,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and </a:t>
            </a: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government pricing updates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Current systems only display current prices — they do </a:t>
            </a: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NOT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predict future prices or provide intelligent assistance.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08845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455366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 Forecasting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761878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Existing tools show only current prices, not future trends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308845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2455366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 AI Assistant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761878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 intelligent guidance for patients or healthcare professionals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730600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3877121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 Centralized DB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418363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 unified medicine database with historical price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672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Objectives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117848"/>
            <a:ext cx="274662" cy="274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558751"/>
            <a:ext cx="39927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Centralized Database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853059"/>
            <a:ext cx="39927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a unified medicine database with historical price records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5121" y="1117848"/>
            <a:ext cx="274662" cy="274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5121" y="1558751"/>
            <a:ext cx="39927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Price Prediction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55121" y="1853059"/>
            <a:ext cx="39927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Predict future medicine prices using ML models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551733"/>
            <a:ext cx="274662" cy="274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992636"/>
            <a:ext cx="39927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Intelligent Search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286944"/>
            <a:ext cx="39927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Provide smart medicine search with historical price trends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55121" y="2551733"/>
            <a:ext cx="274662" cy="274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55121" y="2992636"/>
            <a:ext cx="39927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Pharmacist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55121" y="3286944"/>
            <a:ext cx="39927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Integrate an AI-powered pharmaceutical assistant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3769296"/>
            <a:ext cx="274662" cy="2746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210199"/>
            <a:ext cx="39927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REST APIs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96119" y="4504506"/>
            <a:ext cx="39927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Expose REST APIs for external system integration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55121" y="3769296"/>
            <a:ext cx="274662" cy="27466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55121" y="4210199"/>
            <a:ext cx="39927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Simple UI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655121" y="4504506"/>
            <a:ext cx="39927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Deliver a clean, accessible user interface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9FC24CA-4157-75C2-05F3-F71F6D9154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2719" y="4860758"/>
            <a:ext cx="1141281" cy="2827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551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Proposed Solution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816173"/>
            <a:ext cx="8608963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End-to-end system flow from user interaction through AI-powered responses.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93651"/>
            <a:ext cx="442987" cy="5316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4470" y="1151409"/>
            <a:ext cx="765341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525265"/>
            <a:ext cx="442987" cy="531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470" y="1683023"/>
            <a:ext cx="765341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Streamlit Dashboard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056879"/>
            <a:ext cx="442987" cy="5316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4470" y="2214637"/>
            <a:ext cx="765341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FastAPI Backend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588493"/>
            <a:ext cx="442987" cy="5316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470" y="2746251"/>
            <a:ext cx="765341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SQLite Database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120107"/>
            <a:ext cx="442987" cy="53161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4470" y="3277865"/>
            <a:ext cx="765341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Machine Learning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19" y="3651721"/>
            <a:ext cx="442987" cy="53161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4470" y="3809479"/>
            <a:ext cx="765341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Qwen AI Assistant</a:t>
            </a:r>
            <a:endParaRPr lang="en-US" sz="14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4183335"/>
            <a:ext cx="442987" cy="53161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94470" y="4341093"/>
            <a:ext cx="765341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External Drug API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1D5BFC-FD90-9CC6-CF9E-3F5E9DC238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2719" y="4860758"/>
            <a:ext cx="1141281" cy="2827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71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53691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70021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00672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Streamlit · Plotly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553691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1700213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2006724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FastAPI · Python · 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521818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2668339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2974851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SQLite · FAISS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521818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2668339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ML / AI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2974851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Prophet · Qwen 2.5 3B Instruct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489945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640" y="363646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Embeddings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640" y="394297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sentence-transformers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489945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9363" y="363646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9363" y="394297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Cloudflare Tunnel · GitHub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ADEB5D0-94B5-7096-C495-9AA5E5871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719" y="4860758"/>
            <a:ext cx="1141281" cy="282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System Architecture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6119" y="1319103"/>
            <a:ext cx="3986733" cy="78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clean layered architecture ensures separation of concerns, scalability, and maintainability across all system components.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112964"/>
            <a:ext cx="3986733" cy="597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Presentation Layer</a:t>
            </a: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Streamlit dashboard for user interaction</a:t>
            </a: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Business Logic Layer</a:t>
            </a: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FastAPI backend handling core operations</a:t>
            </a: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Data Layer</a:t>
            </a: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SQLite database with normalized schema</a:t>
            </a: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ML Layer</a:t>
            </a: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Prophet model for price forecasting</a:t>
            </a: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LLM Layer</a:t>
            </a: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Qwen 2.5 AI assistant</a:t>
            </a: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External Services</a:t>
            </a: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Drug API integration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998" y="438107"/>
            <a:ext cx="4422651" cy="4422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9E0129-8720-5D1B-74FF-2EBE872A6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719" y="4860758"/>
            <a:ext cx="1141281" cy="2827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29D49D5-3327-4C3D-DCA3-DBBC2E040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719" y="4860758"/>
            <a:ext cx="1141281" cy="28274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10989" y="28135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Database Design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10989" y="1687224"/>
            <a:ext cx="3989412" cy="748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system uses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SQLite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with a normalized schema (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3NF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) ensuring data integrity through primary keys, foreign keys, and optimized indexes.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959" y="281359"/>
            <a:ext cx="4303812" cy="43038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0989" y="4664794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1356" y="4689797"/>
            <a:ext cx="25329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Drug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1356" y="4877097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Master medicine records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40050" y="4664794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20417" y="4689797"/>
            <a:ext cx="25329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PriceHistory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20417" y="4877097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Historical price data per drug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69111" y="4664794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080E26"/>
          </a:solidFill>
          <a:ln w="9525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9478" y="4689797"/>
            <a:ext cx="25329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RawAPIResponse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9478" y="4877097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Stored external API responses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593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Machine Learning Pipeline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496119" y="752401"/>
            <a:ext cx="860896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pipeline uses </a:t>
            </a: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Prophet</a:t>
            </a: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for time-series forecasting, offering automatic seasonality detection, trend modeling, and confidence interval generation.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96" y="1027212"/>
            <a:ext cx="398711" cy="478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1503" y="1169232"/>
            <a:ext cx="770825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Raw Drug Data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96" y="1505620"/>
            <a:ext cx="398711" cy="47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1503" y="1647640"/>
            <a:ext cx="770825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Cleaning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96" y="1984028"/>
            <a:ext cx="398711" cy="4784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1503" y="2126048"/>
            <a:ext cx="770825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Engineering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996" y="2462436"/>
            <a:ext cx="398711" cy="4784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1503" y="2604456"/>
            <a:ext cx="770825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Historical Price Series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996" y="2940844"/>
            <a:ext cx="398711" cy="4784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1503" y="3082864"/>
            <a:ext cx="770825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Prophet Training</a:t>
            </a:r>
            <a:endParaRPr lang="en-US" sz="12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996" y="3419252"/>
            <a:ext cx="398711" cy="4784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01503" y="3561272"/>
            <a:ext cx="770825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Forecast Generation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996" y="3897660"/>
            <a:ext cx="398711" cy="47840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01503" y="4039680"/>
            <a:ext cx="770825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Confidence Interval</a:t>
            </a:r>
            <a:endParaRPr lang="en-US" sz="12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996" y="4376068"/>
            <a:ext cx="398711" cy="47840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01503" y="4518088"/>
            <a:ext cx="770825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Prediction API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7473698-5576-EA91-1641-697EC4586B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2719" y="4860758"/>
            <a:ext cx="1141281" cy="2827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RAG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34242" y="76184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Retrieval-Augmented Generation powers the AI pharmacist using </a:t>
            </a:r>
            <a:r>
              <a:rPr lang="en-US" sz="10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Sentence Transformers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</a:t>
            </a:r>
            <a:r>
              <a:rPr lang="en-US" sz="10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FAISS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vector search, and </a:t>
            </a:r>
            <a:r>
              <a:rPr lang="en-US" sz="10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Qwen 2.5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via FastAPI.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6340" b="17050"/>
          <a:stretch>
            <a:fillRect/>
          </a:stretch>
        </p:blipFill>
        <p:spPr>
          <a:xfrm>
            <a:off x="152359" y="1135655"/>
            <a:ext cx="4873403" cy="324615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6889" y="2134900"/>
            <a:ext cx="1982093" cy="2502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16306" y="2144425"/>
            <a:ext cx="188267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Knowledge Base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16306" y="2290575"/>
            <a:ext cx="188267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Medical documents chunked and embedded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6889" y="2498869"/>
            <a:ext cx="1982093" cy="2502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16306" y="2508394"/>
            <a:ext cx="188267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FAISS Index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416306" y="2654544"/>
            <a:ext cx="188267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Fast similarity search over vector embeddings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6889" y="2856280"/>
            <a:ext cx="3998937" cy="25025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16306" y="2865805"/>
            <a:ext cx="389952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Qwen 2.5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5416306" y="3011954"/>
            <a:ext cx="389952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Generates grounded, accurate answers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9E8EFA-A9F0-05DD-B57A-45CAE4AF7E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2719" y="4860758"/>
            <a:ext cx="1141281" cy="2827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08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Backend Workflow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14921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FastAPI architecture built on a clean layered pattern — from routing to data persistence and external APIs.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70012"/>
            <a:ext cx="553715" cy="664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303" y="1417757"/>
            <a:ext cx="7511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Router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834530"/>
            <a:ext cx="553715" cy="664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6303" y="2082275"/>
            <a:ext cx="7511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Service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499047"/>
            <a:ext cx="553715" cy="6645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36303" y="2746793"/>
            <a:ext cx="7511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Repository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163565"/>
            <a:ext cx="553715" cy="6645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36303" y="3411310"/>
            <a:ext cx="7511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SQLite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828083"/>
            <a:ext cx="553715" cy="66451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36303" y="4075828"/>
            <a:ext cx="751157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External API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496119" y="4589934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Supported by </a:t>
            </a:r>
            <a:r>
              <a:rPr lang="en-US" sz="8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Caching</a:t>
            </a: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</a:t>
            </a:r>
            <a:r>
              <a:rPr lang="en-US" sz="8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Validation</a:t>
            </a: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</a:t>
            </a:r>
            <a:r>
              <a:rPr lang="en-US" sz="8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Error Handling</a:t>
            </a: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and </a:t>
            </a:r>
            <a:r>
              <a:rPr lang="en-US" sz="8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Dependency Injection</a:t>
            </a: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throughout the stack.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50116B4-646E-593D-0700-CC43DB50F1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7419" y="4589934"/>
            <a:ext cx="1476581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20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14189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Streamlit Dashboard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25119" y="1056308"/>
            <a:ext cx="4722763" cy="815206"/>
          </a:xfrm>
          <a:prstGeom prst="roundRect">
            <a:avLst>
              <a:gd name="adj" fmla="val 719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9407" y="1200596"/>
            <a:ext cx="4434185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Medicine Search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9407" y="1505769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Search and filter medicines with responsive layout.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25119" y="2008882"/>
            <a:ext cx="4722763" cy="815206"/>
          </a:xfrm>
          <a:prstGeom prst="roundRect">
            <a:avLst>
              <a:gd name="adj" fmla="val 719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9407" y="2153171"/>
            <a:ext cx="4434185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Price Charts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9407" y="2458343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Visualize price trends and forecasting graphs.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2961456"/>
            <a:ext cx="4722763" cy="815206"/>
          </a:xfrm>
          <a:prstGeom prst="roundRect">
            <a:avLst>
              <a:gd name="adj" fmla="val 719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9407" y="3105745"/>
            <a:ext cx="4434185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💊</a:t>
            </a: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Drug Details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9407" y="3410917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Detailed medicine information with prediction graphs.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25119" y="3914031"/>
            <a:ext cx="4722763" cy="815206"/>
          </a:xfrm>
          <a:prstGeom prst="roundRect">
            <a:avLst>
              <a:gd name="adj" fmla="val 719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9407" y="4058320"/>
            <a:ext cx="4434185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Responsive Layout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69407" y="4363492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Adaptive interface for all screen sizes.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805916-76D9-B52D-730E-F4739A7CB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720" y="4867633"/>
            <a:ext cx="1086280" cy="2653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C906D3F-BA9C-4B53-9757-8BA287106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" y="1581941"/>
            <a:ext cx="3917939" cy="220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9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04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Assistant</a:t>
            </a:r>
            <a:endParaRPr lang="en-US" sz="27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6119" y="1425721"/>
            <a:ext cx="5181377" cy="29205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17270" y="1177900"/>
            <a:ext cx="1975098" cy="208583"/>
          </a:xfrm>
          <a:prstGeom prst="roundRect">
            <a:avLst>
              <a:gd name="adj" fmla="val 22123"/>
            </a:avLst>
          </a:prstGeom>
          <a:solidFill>
            <a:srgbClr val="181E34"/>
          </a:solidFill>
          <a:ln/>
        </p:spPr>
      </p:sp>
      <p:sp>
        <p:nvSpPr>
          <p:cNvPr id="5" name="Text 2"/>
          <p:cNvSpPr/>
          <p:nvPr/>
        </p:nvSpPr>
        <p:spPr>
          <a:xfrm>
            <a:off x="6099646" y="1219051"/>
            <a:ext cx="2267545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POWERED BY QWEN 2.5 3B INSTRUCT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017270" y="1439689"/>
            <a:ext cx="26353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Capabilities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17270" y="1787203"/>
            <a:ext cx="2635300" cy="1483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Medicine information queries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Symptom guidance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Knowledge-base grounded responses via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RAG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Hallucination reduction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Out-of-domain detection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17270" y="3420814"/>
            <a:ext cx="2635300" cy="1173361"/>
          </a:xfrm>
          <a:prstGeom prst="roundRect">
            <a:avLst>
              <a:gd name="adj" fmla="val 4916"/>
            </a:avLst>
          </a:prstGeom>
          <a:solidFill>
            <a:srgbClr val="28315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564" y="3615110"/>
            <a:ext cx="171599" cy="1372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63457" y="3574852"/>
            <a:ext cx="2051819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Example:</a:t>
            </a: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"What are the side effects of paracetamol?" → Grounded, cited response from knowledge base.</a:t>
            </a: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24A5D6-2FDA-A1A4-D44A-A10F3C3E62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720" y="4867633"/>
            <a:ext cx="1086280" cy="26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13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769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API Endpoints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97074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REST API exposes four endpoints returning structured JSON responses for drug data, predictions, and chat interactions.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387376"/>
            <a:ext cx="2666926" cy="7298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4907" y="1519014"/>
            <a:ext cx="2346499" cy="197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/drugs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84907" y="1813917"/>
            <a:ext cx="234649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List all medicines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14414"/>
            <a:ext cx="2666926" cy="7298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4907" y="2346052"/>
            <a:ext cx="2346499" cy="197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/drugs/{id}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84907" y="2640955"/>
            <a:ext cx="234649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Get drug by ID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041452"/>
            <a:ext cx="2666926" cy="7298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4907" y="3173090"/>
            <a:ext cx="2346499" cy="197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/predictions/{id}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84907" y="3467993"/>
            <a:ext cx="234649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Fetch price predictions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868489"/>
            <a:ext cx="2666926" cy="7298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4907" y="4000128"/>
            <a:ext cx="2346499" cy="197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/chat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84907" y="4295031"/>
            <a:ext cx="234649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Send message to AI assistant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85DD90-15F8-ED3D-47EB-9BABB4D64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720" y="4867633"/>
            <a:ext cx="1086280" cy="2653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F448F7-94E3-42D0-B9C3-31592CEC3B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17" t="1422" r="2016" b="1511"/>
          <a:stretch>
            <a:fillRect/>
          </a:stretch>
        </p:blipFill>
        <p:spPr>
          <a:xfrm>
            <a:off x="3857625" y="1280160"/>
            <a:ext cx="2110359" cy="37856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C475FCF-3FF7-5663-155F-2A767D1973A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60" t="1872" r="2208" b="2957"/>
          <a:stretch>
            <a:fillRect/>
          </a:stretch>
        </p:blipFill>
        <p:spPr>
          <a:xfrm>
            <a:off x="5967984" y="1856562"/>
            <a:ext cx="3137098" cy="254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06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2362" y="109172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Results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262362" y="1747317"/>
            <a:ext cx="4722763" cy="2323654"/>
          </a:xfrm>
          <a:prstGeom prst="roundRect">
            <a:avLst>
              <a:gd name="adj" fmla="val 2562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67124" y="1752080"/>
            <a:ext cx="2356619" cy="1270471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6" name="Text 3"/>
          <p:cNvSpPr/>
          <p:nvPr/>
        </p:nvSpPr>
        <p:spPr>
          <a:xfrm>
            <a:off x="408883" y="1893838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Fast Response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8883" y="2200350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Low-latency drug search and API responses across all endpoints.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23743" y="1752080"/>
            <a:ext cx="2356619" cy="1270471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9" name="Shape 6"/>
          <p:cNvSpPr/>
          <p:nvPr/>
        </p:nvSpPr>
        <p:spPr>
          <a:xfrm>
            <a:off x="2623743" y="1752080"/>
            <a:ext cx="19050" cy="1270471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</p:sp>
      <p:sp>
        <p:nvSpPr>
          <p:cNvPr id="10" name="Text 7"/>
          <p:cNvSpPr/>
          <p:nvPr/>
        </p:nvSpPr>
        <p:spPr>
          <a:xfrm>
            <a:off x="2765502" y="1893838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Accurate Forecasting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765502" y="2200350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Machine learning models deliver reliable medicine price predictions.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7124" y="3022551"/>
            <a:ext cx="4713238" cy="1043657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13" name="Shape 10"/>
          <p:cNvSpPr/>
          <p:nvPr/>
        </p:nvSpPr>
        <p:spPr>
          <a:xfrm>
            <a:off x="267124" y="3022551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</p:sp>
      <p:sp>
        <p:nvSpPr>
          <p:cNvPr id="14" name="Text 11"/>
          <p:cNvSpPr/>
          <p:nvPr/>
        </p:nvSpPr>
        <p:spPr>
          <a:xfrm>
            <a:off x="408883" y="316431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Grounded AI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8883" y="3470821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RAG-powered chatbot responses with hallucination reduction and out-of-domain detection.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732D9C4-B6F2-66CA-DC10-E0BD496EF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125" y="1393719"/>
            <a:ext cx="4159127" cy="23395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0FE39A-F9C7-F25B-D8F9-1E0D17453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682" y="4724342"/>
            <a:ext cx="1743318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04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Challenges &amp; Solutions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92991" y="2566774"/>
            <a:ext cx="3092729" cy="650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project faced several technical hurdles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each addressed with targeted solutions.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347" y="59077"/>
            <a:ext cx="5084423" cy="5084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5C4D5A-784D-82B1-2F49-FD759D8C4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720" y="4867633"/>
            <a:ext cx="1086280" cy="26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703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586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Future Improvements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72369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Live Pharmacy Integration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Real-time pricing from pharmacy APIs.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433" y="1572369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0330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Auth &amp; Notifications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User accounts, authentication, and medicine alerts.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157236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03306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Cloud &amp; Docker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Containerized cloud deployment for scalability.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3742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Mobile &amp; Multilingual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4393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Mobile app with multilingual chatbot support.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3742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Advanced Forecasting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4393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Next-generation ML models for improved price prediction.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840E95-61AF-3A3B-1C3F-D9D806E4BC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57720" y="4867633"/>
            <a:ext cx="1086280" cy="26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51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949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600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project successfully combines </a:t>
            </a: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Machine Learning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</a:t>
            </a: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Artificial Intelligence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</a:t>
            </a: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FastAPI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</a:t>
            </a: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Streamlit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and </a:t>
            </a: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SQLite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to build an intelligent medicine price prediction and pharmaceutical assistant platform.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89100"/>
            <a:ext cx="4004965" cy="1081534"/>
          </a:xfrm>
          <a:prstGeom prst="roundRect">
            <a:avLst>
              <a:gd name="adj" fmla="val 55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" y="2235622"/>
            <a:ext cx="425276" cy="425276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19" y="2352526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802657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Scalable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42842" y="2089100"/>
            <a:ext cx="4005039" cy="1081534"/>
          </a:xfrm>
          <a:prstGeom prst="roundRect">
            <a:avLst>
              <a:gd name="adj" fmla="val 55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2235622"/>
            <a:ext cx="425276" cy="425276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2352526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2802657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Modular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96119" y="3312393"/>
            <a:ext cx="4004965" cy="1081534"/>
          </a:xfrm>
          <a:prstGeom prst="roundRect">
            <a:avLst>
              <a:gd name="adj" fmla="val 55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2640" y="3458914"/>
            <a:ext cx="425276" cy="425276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19" y="3575819"/>
            <a:ext cx="191319" cy="1913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2640" y="402595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Easy to Extend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642842" y="3312393"/>
            <a:ext cx="4005039" cy="1081534"/>
          </a:xfrm>
          <a:prstGeom prst="roundRect">
            <a:avLst>
              <a:gd name="adj" fmla="val 550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89363" y="3458914"/>
            <a:ext cx="425276" cy="425276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342" y="3575819"/>
            <a:ext cx="191319" cy="1913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89363" y="402595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Healthcare Oriented</a:t>
            </a:r>
            <a:endParaRPr lang="en-US" sz="13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A4FD191-647B-5923-05E6-7281A7A779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7720" y="4867633"/>
            <a:ext cx="1086280" cy="26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40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765" b="2618"/>
          <a:stretch>
            <a:fillRect/>
          </a:stretch>
        </p:blipFill>
        <p:spPr>
          <a:xfrm>
            <a:off x="0" y="0"/>
            <a:ext cx="3616630" cy="51329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1704"/>
            <a:ext cx="4722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3925119" y="231569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Questions?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9712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 appreciate your time and attention. We welcome any questions about the architecture, AI assistant, forecasting models, or future roadmap.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027BEC-33CA-B58A-A3B0-B9B63ACE8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720" y="4867633"/>
            <a:ext cx="1086280" cy="26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66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922</Words>
  <Application>Microsoft Office PowerPoint</Application>
  <PresentationFormat>On-screen Show (16:9)</PresentationFormat>
  <Paragraphs>195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Fraunces Medium</vt:lpstr>
      <vt:lpstr>Epilogue Bold</vt:lpstr>
      <vt:lpstr>Epilogue</vt:lpstr>
      <vt:lpstr>Arial</vt:lpstr>
      <vt:lpstr>Twemoji Mozilla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CM</dc:creator>
  <cp:lastModifiedBy>Ahmed Tamer</cp:lastModifiedBy>
  <cp:revision>2</cp:revision>
  <dcterms:created xsi:type="dcterms:W3CDTF">2026-07-11T11:58:27Z</dcterms:created>
  <dcterms:modified xsi:type="dcterms:W3CDTF">2026-07-11T13:08:30Z</dcterms:modified>
</cp:coreProperties>
</file>